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78156618974d45" /><Relationship Type="http://schemas.openxmlformats.org/officeDocument/2006/relationships/extended-properties" Target="/docProps/app.xml" Id="R31bf6e81d6f5490d" /><Relationship Type="http://schemas.openxmlformats.org/officeDocument/2006/relationships/officeDocument" Target="/ppt/presentation.xml" Id="R37263c562b55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746f7a87847c3"/>
  </p:sldMasterIdLst>
  <p:notesMasterIdLst>
    <p:notesMasterId xmlns:r="http://schemas.openxmlformats.org/officeDocument/2006/relationships" r:id="R365586a1a747412d"/>
  </p:notesMasterIdLst>
  <p:sldIdLst>
    <p:sldId xmlns:r="http://schemas.openxmlformats.org/officeDocument/2006/relationships" id="256" r:id="R7d41208543fc4c31"/>
    <p:sldId xmlns:r="http://schemas.openxmlformats.org/officeDocument/2006/relationships" id="257" r:id="R41eda392f2774d31"/>
    <p:sldId xmlns:r="http://schemas.openxmlformats.org/officeDocument/2006/relationships" id="258" r:id="Rba8d224429994581"/>
    <p:sldId xmlns:r="http://schemas.openxmlformats.org/officeDocument/2006/relationships" id="259" r:id="R6ef5be6d6b7f477c"/>
    <p:sldId xmlns:r="http://schemas.openxmlformats.org/officeDocument/2006/relationships" id="260" r:id="Rfdfd87fbf69142ee"/>
    <p:sldId xmlns:r="http://schemas.openxmlformats.org/officeDocument/2006/relationships" id="261" r:id="Rca1bdac18d554c67"/>
    <p:sldId xmlns:r="http://schemas.openxmlformats.org/officeDocument/2006/relationships" id="262" r:id="R43dc0f74a8054c20"/>
    <p:sldId xmlns:r="http://schemas.openxmlformats.org/officeDocument/2006/relationships" id="263" r:id="R1abbcc49f69f4bb1"/>
    <p:sldId xmlns:r="http://schemas.openxmlformats.org/officeDocument/2006/relationships" id="264" r:id="R6ab9faf540274172"/>
    <p:sldId xmlns:r="http://schemas.openxmlformats.org/officeDocument/2006/relationships" id="265" r:id="R1f5573dc4d7647ef"/>
    <p:sldId xmlns:r="http://schemas.openxmlformats.org/officeDocument/2006/relationships" id="266" r:id="R6cc5320119584226"/>
    <p:sldId xmlns:r="http://schemas.openxmlformats.org/officeDocument/2006/relationships" id="267" r:id="Rd7f69a5f73d84d65"/>
    <p:sldId xmlns:r="http://schemas.openxmlformats.org/officeDocument/2006/relationships" id="268" r:id="R5b00aab4bf4e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b851802434839" /><Relationship Type="http://schemas.openxmlformats.org/officeDocument/2006/relationships/slideMaster" Target="/ppt/slideMasters/slideMaster1.xml" Id="R58f746f7a87847c3" /><Relationship Type="http://schemas.openxmlformats.org/officeDocument/2006/relationships/notesMaster" Target="/ppt/notesMasters/notesMaster1.xml" Id="R365586a1a747412d" /><Relationship Type="http://schemas.openxmlformats.org/officeDocument/2006/relationships/presProps" Target="/ppt/presProps.xml" Id="R9706f7adf9334765" /><Relationship Type="http://schemas.openxmlformats.org/officeDocument/2006/relationships/tableStyles" Target="/ppt/tableStyles.xml" Id="R11c827051d66448f" /><Relationship Type="http://schemas.openxmlformats.org/officeDocument/2006/relationships/slide" Target="/ppt/slides/slide1.xml" Id="R7d41208543fc4c31" /><Relationship Type="http://schemas.openxmlformats.org/officeDocument/2006/relationships/slide" Target="/ppt/slides/slide2.xml" Id="R41eda392f2774d31" /><Relationship Type="http://schemas.openxmlformats.org/officeDocument/2006/relationships/slide" Target="/ppt/slides/slide3.xml" Id="Rba8d224429994581" /><Relationship Type="http://schemas.openxmlformats.org/officeDocument/2006/relationships/slide" Target="/ppt/slides/slide4.xml" Id="R6ef5be6d6b7f477c" /><Relationship Type="http://schemas.openxmlformats.org/officeDocument/2006/relationships/slide" Target="/ppt/slides/slide5.xml" Id="Rfdfd87fbf69142ee" /><Relationship Type="http://schemas.openxmlformats.org/officeDocument/2006/relationships/slide" Target="/ppt/slides/slide6.xml" Id="Rca1bdac18d554c67" /><Relationship Type="http://schemas.openxmlformats.org/officeDocument/2006/relationships/slide" Target="/ppt/slides/slide7.xml" Id="R43dc0f74a8054c20" /><Relationship Type="http://schemas.openxmlformats.org/officeDocument/2006/relationships/slide" Target="/ppt/slides/slide8.xml" Id="R1abbcc49f69f4bb1" /><Relationship Type="http://schemas.openxmlformats.org/officeDocument/2006/relationships/slide" Target="/ppt/slides/slide9.xml" Id="R6ab9faf540274172" /><Relationship Type="http://schemas.openxmlformats.org/officeDocument/2006/relationships/slide" Target="/ppt/slides/slide10.xml" Id="R1f5573dc4d7647ef" /><Relationship Type="http://schemas.openxmlformats.org/officeDocument/2006/relationships/slide" Target="/ppt/slides/slide11.xml" Id="R6cc5320119584226" /><Relationship Type="http://schemas.openxmlformats.org/officeDocument/2006/relationships/slide" Target="/ppt/slides/slide12.xml" Id="Rd7f69a5f73d84d65" /><Relationship Type="http://schemas.openxmlformats.org/officeDocument/2006/relationships/slide" Target="/ppt/slides/slide13.xml" Id="R5b00aab4bf4e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0a7dd0e16443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745cd52f744f85" /><Relationship Type="http://schemas.openxmlformats.org/officeDocument/2006/relationships/notesMaster" Target="/ppt/notesMasters/notesMaster1.xml" Id="R14e8b6ea6d0e46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1bbf4e97546cf" /><Relationship Type="http://schemas.openxmlformats.org/officeDocument/2006/relationships/notesMaster" Target="/ppt/notesMasters/notesMaster1.xml" Id="Rd7b08cba7771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aa5bb8a11946b5" /><Relationship Type="http://schemas.openxmlformats.org/officeDocument/2006/relationships/notesMaster" Target="/ppt/notesMasters/notesMaster1.xml" Id="R9f4b3bee36be48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6c49a22e32466b" /><Relationship Type="http://schemas.openxmlformats.org/officeDocument/2006/relationships/notesMaster" Target="/ppt/notesMasters/notesMaster1.xml" Id="Reaff1b01e1df4d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3de7a985274beb" /><Relationship Type="http://schemas.openxmlformats.org/officeDocument/2006/relationships/notesMaster" Target="/ppt/notesMasters/notesMaster1.xml" Id="R6fc00dd4d011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2f39898af346b9" /><Relationship Type="http://schemas.openxmlformats.org/officeDocument/2006/relationships/notesMaster" Target="/ppt/notesMasters/notesMaster1.xml" Id="Rfee83eb2ede2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1021417fff445a" /><Relationship Type="http://schemas.openxmlformats.org/officeDocument/2006/relationships/notesMaster" Target="/ppt/notesMasters/notesMaster1.xml" Id="Redcde69b998e43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21fc2352d64fe0" /><Relationship Type="http://schemas.openxmlformats.org/officeDocument/2006/relationships/notesMaster" Target="/ppt/notesMasters/notesMaster1.xml" Id="Rcf6d87e9b3da4b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0702531f14354" /><Relationship Type="http://schemas.openxmlformats.org/officeDocument/2006/relationships/notesMaster" Target="/ppt/notesMasters/notesMaster1.xml" Id="R6b530933a35746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77d5d3775b4e5b" /><Relationship Type="http://schemas.openxmlformats.org/officeDocument/2006/relationships/notesMaster" Target="/ppt/notesMasters/notesMaster1.xml" Id="R58311be73bde49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8acd0affb748d7" /><Relationship Type="http://schemas.openxmlformats.org/officeDocument/2006/relationships/notesMaster" Target="/ppt/notesMasters/notesMaster1.xml" Id="Rdecbd5abfdbe46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67c1e644c441fe" /><Relationship Type="http://schemas.openxmlformats.org/officeDocument/2006/relationships/notesMaster" Target="/ppt/notesMasters/notesMaster1.xml" Id="R41457f5cfe3d45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eda56182ab4708" /><Relationship Type="http://schemas.openxmlformats.org/officeDocument/2006/relationships/notesMaster" Target="/ppt/notesMasters/notesMaster1.xml" Id="Rbbcf29a9d9a946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この発表では、写真をそのまま爪に貼るのではなく、色・線・形・光に分解し、5本のネイルとして再構成する制作過程を説明します。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Vincent van Gogh, Sunflowers, 1888, Public Domain, Wikimedia Commons</a:t>
            </a:r>
          </a:p>
          <a:p xmlns:a="http://schemas.openxmlformats.org/drawingml/2006/main">
            <a:r>
              <a:t>- ネイル画像: 艶II SOURCEのCanvas描画出力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プログラムはすべてを乱数で決めません。画像から変わる部分、5本の構成として固定する部分、細部だけを揺らす部分を分けています。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制作説明の正本: /Users/imafukuemiko/.codex/attachments/cd087418-b6c9-4d19-942e-3f5aace1da53/pasted-text.txt</a:t>
            </a:r>
          </a:p>
          <a:p xmlns:a="http://schemas.openxmlformats.org/drawingml/2006/main">
            <a:r>
              <a:t>- 実装: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写真を小さくして全体の傾向を読み、色と特徴量を取り出し、5本の構成とCanvas描画に渡します。画像そのものを爪へ貼る処理ではありません。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extractSourcePalette(), analyzeSource(), makeSourceSets()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得点は、多い色だけでなく、少量でも印象の強い色を拾うための設計値です。0.28と0にしないことで低彩度色を残し、2.8で鮮やかな差し色を強調します。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Vincent van Gogh, Sunflowers, 1888, Public Domain, Wikimedia Commons</a:t>
            </a:r>
          </a:p>
          <a:p xmlns:a="http://schemas.openxmlformats.org/drawingml/2006/main">
            <a:r>
              <a:t>- 色抽出式: extractSourcePalette()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値を大きくすると常に良くなるのではなく、色の性格が変わります。0.28と2.8は今福が直接指定した数値でも、比較実験で最適と証明した数値でもありません。制作方針をコード化する際にAI実装支援が置いた暫定値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extractSourcePalette() / /Volumes/blender/新Secondbrain/20_Projects/ネイルアプリ4部作/tsuya-v2-deploy/experience-prototype/index.html</a:t>
            </a:r>
          </a:p>
          <a:p xmlns:a="http://schemas.openxmlformats.org/drawingml/2006/main">
            <a:r>
              <a:t>- 制作起点記録と数値の来歴: /Users/imafukuemiko/.codex/attachments/cd087418-b6c9-4d19-942e-3f5aace1da53/pasted-text.txt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GB距離48は、似た色ばかりを防ぐフィルターです。その後、1・4・2・5・3位の順に並べることで、上位色が隣り続けるのを避けます。美的バランスは、距離計算一つではなく、後段の模様構成と合わせて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色距離と配列: extractSourcePalette(), makeSourceSets()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プログラムは「フェラーリ」という意味を理解しているのではなく、画素の明るさの差、鮮やかさ、明るい面積を測っています。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Photo: Mathious Ier, Ferrari F8 Tributo, CC0, Wikimedia Commons</a:t>
            </a:r>
          </a:p>
          <a:p xmlns:a="http://schemas.openxmlformats.org/drawingml/2006/main">
            <a:r>
              <a:t>- 数値化: analyzeSource()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画像分析が決めるのは色と模様量です。どの指に形、線、光、単色を置くかは、予めプログラムに指定した構成表です。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sourceRecipes('MIX'), makeSourceSets() / /Volumes/blender/新Secondbrain/20_Projects/ネイルアプリ4部作/tsuya-v2-deploy/experience-prototype/index.html</a:t>
            </a:r>
          </a:p>
          <a:p xmlns:a="http://schemas.openxmlformats.org/drawingml/2006/main">
            <a:r>
              <a:t>- 各ネイル画像: 艶II SOURCEのCanvas描画出力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ここでいうシードは、画像から計算する一つの整数です。その整数から0から1までの数を順番に作ります。同じ画像なら整数も数の順番も同じになるため、ページを開き直しても同じ3案を再現できます。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sourceSeedFromPixels(), sourcePaletteTunings()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今回の試作では、色の得点式にある二つの数値だけを画像ごとに変えます。流転、景層、残光には別々の範囲を設定し、5本の構成や手の追跡は変えません。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sourcePaletteTunings(), makeSourceSets()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一つの計算で美的バランスを出しているわけではありません。色の選別、並べ順、模様構成、強さの制限を順番に適用しています。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extractSourcePalette(), sourceRecipes(), makeSourceSets() / /Volumes/blender/新Secondbrain/20_Projects/ネイルアプリ4部作/tsuya-v2-deploy/experience-prototype/index.html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「ネイルとして良い」は自動的な点数ではありません。5本の統一感、強弱、実際の手に載せたときの見え方、元画像との関係を今福が比較し、採用・却下・修正を決めました。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制作対話と判断基準: /Users/imafukuemiko/.codex/attachments/cd087418-b6c9-4d19-942e-3f5aace1da53/pasted-text.txt</a:t>
            </a:r>
          </a:p>
          <a:p xmlns:a="http://schemas.openxmlformats.org/drawingml/2006/main">
            <a:r>
              <a:t>- ネイル画像: 艶II SOURCEのCanvas描画出力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作品の発想、方針、美的判断、最終責任は今福恵美子が担います。数式の具体化やコードの実装には生成AIの支援を利用しています。発表では、この分担を明示します。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今福恵美子の制作対話・採否判断</a:t>
            </a:r>
          </a:p>
          <a:p xmlns:a="http://schemas.openxmlformats.org/drawingml/2006/main">
            <a:r>
              <a:t>- 実装支援: OpenAI Codex / ChatGPT</a:t>
            </a:r>
          </a:p>
          <a:p xmlns:a="http://schemas.openxmlformats.org/drawingml/2006/main">
            <a:r>
              <a:t>- 京都芸術大学通信教育課程の生成AI利用ガイドラインに基づき、利用範囲と本人の確認を記録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a3a864f9944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124235763e4e1a" /><Relationship Type="http://schemas.openxmlformats.org/officeDocument/2006/relationships/slideLayout" Target="/ppt/slideLayouts/slideLayout1.xml" Id="R74f0e4a957224f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f0e4a957224f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6da4ea53d4242" /><Relationship Type="http://schemas.openxmlformats.org/officeDocument/2006/relationships/image" Target="/ppt/media/image.jpeg" Id="Rdd17472958064fa1" /><Relationship Type="http://schemas.openxmlformats.org/officeDocument/2006/relationships/image" Target="/ppt/media/image.png" Id="R62ea377a58ab48e0" /><Relationship Type="http://schemas.openxmlformats.org/officeDocument/2006/relationships/notesSlide" Target="/ppt/notesSlides/notesSlide1.xml" Id="R624a680c9fb048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6d10c13db452a" /><Relationship Type="http://schemas.openxmlformats.org/officeDocument/2006/relationships/notesSlide" Target="/ppt/notesSlides/notesSlide2.xml" Id="Rd1a205b43ad34a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199b4d5cd4827" /><Relationship Type="http://schemas.openxmlformats.org/officeDocument/2006/relationships/notesSlide" Target="/ppt/notesSlides/notesSlide3.xml" Id="Rbb28ffae2b5e41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5f539fc2f46bd" /><Relationship Type="http://schemas.openxmlformats.org/officeDocument/2006/relationships/image" Target="/ppt/media/image2.jpeg" Id="R9e2253ae74734641" /><Relationship Type="http://schemas.openxmlformats.org/officeDocument/2006/relationships/notesSlide" Target="/ppt/notesSlides/notesSlide4.xml" Id="R92b9308be15743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78c561ab4f0e" /><Relationship Type="http://schemas.openxmlformats.org/officeDocument/2006/relationships/notesSlide" Target="/ppt/notesSlides/notesSlide5.xml" Id="R17f151599185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7db3b947f4937" /><Relationship Type="http://schemas.openxmlformats.org/officeDocument/2006/relationships/notesSlide" Target="/ppt/notesSlides/notesSlide6.xml" Id="R5a3038de6fce47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c9b2bfeb64db2" /><Relationship Type="http://schemas.openxmlformats.org/officeDocument/2006/relationships/image" Target="/ppt/media/image3.jpeg" Id="R82f266bbea0a4095" /><Relationship Type="http://schemas.openxmlformats.org/officeDocument/2006/relationships/notesSlide" Target="/ppt/notesSlides/notesSlide7.xml" Id="R62823a791a0940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f857d00cf4794" /><Relationship Type="http://schemas.openxmlformats.org/officeDocument/2006/relationships/image" Target="/ppt/media/image2.png" Id="R7899a36bf9734eda" /><Relationship Type="http://schemas.openxmlformats.org/officeDocument/2006/relationships/image" Target="/ppt/media/image3.png" Id="Rf84f82ad2039494d" /><Relationship Type="http://schemas.openxmlformats.org/officeDocument/2006/relationships/image" Target="/ppt/media/image4.png" Id="R3e6274bf146c43d0" /><Relationship Type="http://schemas.openxmlformats.org/officeDocument/2006/relationships/notesSlide" Target="/ppt/notesSlides/notesSlide8.xml" Id="R24414cd90cc049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cf24fa4148cd" /><Relationship Type="http://schemas.openxmlformats.org/officeDocument/2006/relationships/notesSlide" Target="/ppt/notesSlides/notesSlide9.xml" Id="Red4c6d889a29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1052497ee42ef" /><Relationship Type="http://schemas.openxmlformats.org/officeDocument/2006/relationships/notesSlide" Target="/ppt/notesSlides/notesSlide10.xml" Id="Rdbfa2205517742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98e9d47c34e48" /><Relationship Type="http://schemas.openxmlformats.org/officeDocument/2006/relationships/notesSlide" Target="/ppt/notesSlides/notesSlide11.xml" Id="Rc029063a412840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256cb6b6d4a5d" /><Relationship Type="http://schemas.openxmlformats.org/officeDocument/2006/relationships/image" Target="/ppt/media/image5.png" Id="R2c9e988110e44e77" /><Relationship Type="http://schemas.openxmlformats.org/officeDocument/2006/relationships/notesSlide" Target="/ppt/notesSlides/notesSlide12.xml" Id="R50aa5987d2d944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7b272dfce4ea7" /><Relationship Type="http://schemas.openxmlformats.org/officeDocument/2006/relationships/notesSlide" Target="/ppt/notesSlides/notesSlide13.xml" Id="Rbacd2948bee143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98AD9-DCD1-4CDB-A945-B977A80B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艶 II /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04C89-66BC-48B7-9596-F45FFB26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435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写真から</a:t>
            </a:r>
          </a:p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435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5本のネイルへ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80B30-1353-44E0-BD7C-F60399E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色・線・光を採集し、</a:t>
            </a:r>
          </a:p>
          <a:p xmlns:a="http://schemas.openxmlformats.org/drawingml/2006/main">
            <a:pPr algn="l">
              <a:defRPr sz="18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制御された偶然性で再構成する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4D47C-713B-415B-AA06-DD96C8A6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修士制作　制作過程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8A031-EA99-4734-AD43-87B9BC7F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今福恵美子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7472958064fa1"/>
          <a:srcRect xmlns:a="http://schemas.openxmlformats.org/drawingml/2006/main" l="0" t="16363" r="0" b="16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410200" cy="4629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7C141-8023-456F-B789-36FA52C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4914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a377a58ab48e0"/>
          <a:stretch xmlns:a="http://schemas.openxmlformats.org/drawingml/2006/main"/>
        </p:blipFill>
        <p:spPr>
          <a:xfrm xmlns:a="http://schemas.openxmlformats.org/drawingml/2006/main">
            <a:off x="7919787" y="4705350"/>
            <a:ext cx="2105526" cy="800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11C82-B203-4E54-A23C-B3D68D00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05790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Vincent van Gogh, Sunflowers, 1888 / Public 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4B4E3-EBD2-401F-9D19-15E6E3B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284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79FC8-BC58-4700-B3E4-D1BBCE63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METHOD / CENTRAL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6096D-54E8-4464-8227-5D4F1AA6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ランダムではなく、3つの要素を掛け合わせる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5B9B7-80E0-410B-8CDD-6B0AB61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9C12C-A7A6-455B-AF70-8FDAC71D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D676-C8D3-439F-9672-DE2F097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B1740-094A-4E3F-A5D6-6A7BE7D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写真の特徴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418F4-8EF4-47C3-9863-D7E7F51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色の量と鮮やかさ</a:t>
            </a:r>
          </a:p>
          <a:p xmlns:a="http://schemas.openxmlformats.org/drawingml/2006/main">
            <a:pPr algn="l">
              <a:def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線・明暗差・光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8DE6E-A226-45F8-A463-325F9415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860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C8C3B8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C8C3B8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ADA46-D4E3-4908-8B98-8DED3C0A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F7457-CCBD-4608-B3D3-638B7688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今福の構成判断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948FE-ACB7-4CA6-96D1-AA8AD852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色を並べる順番</a:t>
            </a:r>
          </a:p>
          <a:p xmlns:a="http://schemas.openxmlformats.org/drawingml/2006/main">
            <a:pPr algn="l">
              <a:def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5本の模様と強弱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BE0CD-394A-42DB-A61F-36C2FE4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860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C8C3B8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C8C3B8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050E8-9F39-4793-B899-944642F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CB6C9-6A37-4DFA-83EF-4676454F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制御された乱数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25525-0844-4C82-82F5-D96F51B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線や光の位置に</a:t>
            </a:r>
          </a:p>
          <a:p xmlns:a="http://schemas.openxmlformats.org/drawingml/2006/main">
            <a:pPr algn="l">
              <a:def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自然な揺らぎを作る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FD86A-B8E5-45D5-B806-6F3139F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1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写真の個性は残す。でも、5本のまとまりは偶然に任せない。</a:t>
            </a:r>
          </a:p>
        </p:txBody>
      </p:sp>
    </p:spTree>
    <p:extLst>
      <p:ext uri="{BB962C8B-B14F-4D97-AF65-F5344CB8AC3E}">
        <p14:creationId xmlns:p14="http://schemas.microsoft.com/office/powerpoint/2010/main" val="484380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045F1-D84E-44BD-BE08-16A3E8B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PROCESS /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DCF06-2488-482A-99F7-050B848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入力した写真を、4段階でネイルへ変換する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CCE31-2EC2-42F7-A672-E8EB820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F486F-2811-45ED-9018-A1498FDE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2FDBD-82B5-4B56-84DA-931DC941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0210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37B0F-B8A8-457D-BA3A-B628173D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8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A4B4F-9322-4B4F-BE86-A7B4610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DB96A-BF76-417F-B086-929F538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色を8色選ぶ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99DCF-7E9A-43AD-B257-91BE2DC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面積と彩度で</a:t>
            </a:r>
          </a:p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色の順位を決める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5B68-5857-419A-B756-E9D9580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B9F22-63DF-4358-A256-A5BEA3F6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46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3FF75-219A-4B43-9831-D23C536C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特徴を0-1にする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0687F-89E7-4F03-811A-D0AA1333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線・明暗差・光を</a:t>
            </a:r>
          </a:p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比較できる数値にする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FD435-76E6-4B7C-AD90-C92CD5B7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15CA2-F688-4DC4-9302-8A489B2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B06C1-5533-42C0-86E3-3063379A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色と5本を構成する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23A25-D67D-49A6-BF02-4CCB99E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色順と模様表に</a:t>
            </a:r>
          </a:p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数値を入れる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F9668-26A4-42BB-ACDE-59674C6A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CCD44-9D80-4445-A247-5B16EA6F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146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97CDE-1C32-454A-B38D-33C948F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線・形・光を描く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568E4-47A6-40C7-83AC-4400982F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同じ入力なら</a:t>
            </a:r>
          </a:p>
          <a:p xmlns:a="http://schemas.openxmlformats.org/drawingml/2006/main">
            <a:pPr algn="l">
              <a:def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同じ結果を再現できる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3D62B-5E39-49CE-A9C8-DC96C6EE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ここでは「生成」を、特徴の採集と再編成として扱う</a:t>
            </a:r>
          </a:p>
        </p:txBody>
      </p:sp>
    </p:spTree>
    <p:extLst>
      <p:ext uri="{BB962C8B-B14F-4D97-AF65-F5344CB8AC3E}">
        <p14:creationId xmlns:p14="http://schemas.microsoft.com/office/powerpoint/2010/main" val="1275641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BCA44-B786-4278-9EF3-7545D953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COLOR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D03C6-9F41-4D19-B7E2-0F3813BD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色は「写っている量」と「鮮やかさ」で選ぶ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C06AE-0045-4A32-9756-A3EB651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2D1D5-AEF4-4C13-93C2-2650092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253ae74734641"/>
          <a:stretch xmlns:a="http://schemas.openxmlformats.org/drawingml/2006/main"/>
        </p:blipFill>
        <p:spPr>
          <a:xfrm xmlns:a="http://schemas.openxmlformats.org/drawingml/2006/main">
            <a:off x="585495" y="1562100"/>
            <a:ext cx="2905710" cy="3695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A2388-D63D-4042-B6E1-B7A5E15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57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色の得点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3B1DF-66A4-4E41-8BFB-78AAF74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7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写真に含まれる量</a:t>
            </a:r>
          </a:p>
          <a:p xmlns:a="http://schemas.openxmlformats.org/drawingml/2006/main">
            <a:pPr algn="ctr">
              <a:defRPr sz="27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7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×</a:t>
            </a:r>
          </a:p>
          <a:p xmlns:a="http://schemas.openxmlformats.org/drawingml/2006/main">
            <a:pPr algn="ctr">
              <a:defRPr sz="27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7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（0.28 + 彩度 × 2.8）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8E336-DFC6-4F4C-8FD2-DA86C2E3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641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ED887-EFE3-4986-B090-C5A49E29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9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rPr>
              <a:t>0.28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B04A1-93B8-4ABE-86AE-8CC814C0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白・灰・茶色など</a:t>
            </a:r>
          </a:p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低彩度色を0にしない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35394-456E-4066-8AF1-CEE3BA46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2.8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D148E-D963-42E3-8029-62BA7838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面積が小さくても</a:t>
            </a:r>
          </a:p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鮮やかな色を拾う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A6F3C-37FC-4167-A0EA-CC0DF832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76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7B7BF-C669-4202-8877-C4CEF26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4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CF159-7E6D-4E4A-8D87-895AD405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67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57A66-8E1B-4763-B884-26F0D9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79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4DCB4-7770-4074-B528-E3B37E63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65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9F451-4144-4B83-9E4A-B910D0F1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C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09E04-C09B-40F3-B37F-DA222187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4A7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23F1E-118A-41F8-AC23-EC1BF1B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435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417C1-139B-4756-BE93-C8760E50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プログラムが選んだ8色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24D57-7D58-46E4-884D-33A85CE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Vincent van Gogh, Sunflowers, 1888 / Public Domain</a:t>
            </a:r>
          </a:p>
        </p:txBody>
      </p:sp>
    </p:spTree>
    <p:extLst>
      <p:ext uri="{BB962C8B-B14F-4D97-AF65-F5344CB8AC3E}">
        <p14:creationId xmlns:p14="http://schemas.microsoft.com/office/powerpoint/2010/main" val="451007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DB082-7151-44AC-83E1-821E42E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PARAMETER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63374-646A-4BF9-8CFE-106C879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数値を変えると、選ばれる色の性格が変わる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16214-6BB9-4BD2-AA58-D1C6199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999D9-166C-41E1-A4EF-9C009A37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645B7-0838-46FB-BA02-FD16BA3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rPr>
              <a:t>0.28 を大きく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F8754-FB7D-4550-AB92-23373446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764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無彩色・茶色・ベージュが残る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4C449-EB56-4EC5-8956-55DE536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落ち着く / 差し色が弱くなる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D9C7B-367F-41A8-984B-FEA9BA30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1C81D-7F9D-48E9-8501-646D98C1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2.8 を大きく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A5E8F-E47B-4611-86F2-5FEC9034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少量の赤や青が上位に入る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F1056-8F85-4C23-9B86-A11BEB1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528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鮮やか / 元画像の面積比から離れる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C0970-A493-41A9-B668-308F5B6F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C6B57-9250-4019-B1FA-30EB93A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RGB距離 48 を大きく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62316-A25B-4E5A-A8EF-3F48DED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似た色を同時に選びにくくする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4F12E-DF32-44FF-B5EC-8647EF41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339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色幅が出る / 微妙な色差は減る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7A679-4D09-4C82-9176-086AE42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5AFA4-B22A-47A9-8AD2-61C3498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3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59A1C-3DF0-4F69-953C-B34F7ED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007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0.28と2.8は唯一の正解ではなく、AI実装時に置かれた暫定値</a:t>
            </a:r>
          </a:p>
        </p:txBody>
      </p:sp>
    </p:spTree>
    <p:extLst>
      <p:ext uri="{BB962C8B-B14F-4D97-AF65-F5344CB8AC3E}">
        <p14:creationId xmlns:p14="http://schemas.microsoft.com/office/powerpoint/2010/main" val="998036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AA1DAC-36BF-4FA0-A563-DF55A10D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FIVE-FINGER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0B55A-F486-4920-98B1-B662CDB2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色の多様性と、5本の並びでバランスを作る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16DD7-20A4-4AE8-8CE9-0F82821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DF1A2-E8C8-49E0-8478-FD88C1A5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6811A-576B-4DBD-A47F-4B1A5D7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似すぎる色は、最初の選考で離す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FED8E-2FA4-4325-A8CE-4477A2F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9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5EA3E-33C6-4314-AC75-2DB8A38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1637E-B3D5-47C7-8E09-4A54DD9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47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FF3BD-E6A9-49F1-8C3F-98931E1F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79FB0-1C12-45FF-BD4A-8B630E2A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RGB距離 ≤ 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579DA-6A03-4EC4-A148-93FA08C2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似た色ばかりを防ぐ</a:t>
            </a:r>
          </a:p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※これだけで「美しさ」は判定しない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C75B1-AE10-4C3F-905C-3D729A50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02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DFAE4-AF61-4EB7-820D-5D7D8A89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抽出順位は、そのまま並べない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02E4A-8512-47E3-9695-D940B2F5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6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35D10-027F-4567-A2F0-A848ED1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1位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7EDF2-175C-4DE4-8F94-D1AEFD2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A1EDE-E96B-4139-81B6-771EB8DC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38425"/>
            <a:ext cx="13335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4568D-57CA-4140-AEBF-5248826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9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91EFC-8CF6-4E20-9FCF-ED22A89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24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4位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024EC-120B-4F33-9F7E-807265BE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6ADA7-37A1-418F-AE92-11E82ED5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38425"/>
            <a:ext cx="13335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98358-309C-4EDF-861D-FB344B2A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4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E78B3-4949-4CFF-8109-DC688444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2位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CA007-F405-4D52-961A-E4BF0C8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3D10B-10DE-4E53-B0EB-27433408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38425"/>
            <a:ext cx="13335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C9914-7447-4320-947F-E8D45F2D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4624D-24FF-421B-89C1-54A85247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24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5位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3DBFC-C567-4AB6-9C84-8D2176C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051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42A1C3-1AD6-43B9-80B5-C887D745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8425"/>
            <a:ext cx="13335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solidFill>
              <a:srgbClr val="B58A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E873B-D59B-4748-8AE0-84C0346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5BC52-66B7-4338-9B38-7ADEE557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3位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27E24D-F446-40C4-9C1E-39D6F46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主色と差し色を交互に置く</a:t>
            </a:r>
          </a:p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この色順はプログラムに固定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E704C-ACDC-4D95-B6C2-315AC4C7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8A32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250" b="1">
                <a:solidFill>
                  <a:srgbClr val="B58A32"/>
                </a:solidFill>
                <a:latin typeface="Hiragino Mincho ProN"/>
                <a:ea typeface="Hiragino Mincho ProN"/>
                <a:cs typeface="Hiragino Mincho ProN"/>
              </a:rPr>
              <a:t>バランス = 色の選別 + 並べる順番 + 模様の強弱</a:t>
            </a:r>
          </a:p>
        </p:txBody>
      </p:sp>
    </p:spTree>
    <p:extLst>
      <p:ext uri="{BB962C8B-B14F-4D97-AF65-F5344CB8AC3E}">
        <p14:creationId xmlns:p14="http://schemas.microsoft.com/office/powerpoint/2010/main" val="94343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FB57D-3A43-4AB8-9979-231C86C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FEATURE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9AB57-4309-4F1B-A7E4-F5DC956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写真の線・明暗差・光を0から1の数値にする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88471-C960-414D-A655-3ACE735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C1A89-4770-48D3-BCF2-E74B0889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266bbea0a40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191E1-38DB-4E17-8AEB-B2D9F1B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81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実測値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4A0B-85BB-4609-9930-F751E68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LINE  線密度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CFB20-C171-4EA0-B0B8-43D6A06E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F415B-571A-455A-8F5B-94E15D39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17621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8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607D7-7631-4194-874D-BE3DFC6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9D121-71DC-4563-91BC-07B3409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71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LIGHT  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0E13D-C923-4307-88EA-445C348A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EFC98-CDBB-4E79-820B-1857B9D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B986D-1B89-467D-AD19-9AA6BC91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BF470-CB42-47BB-A963-2650AB86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CONTRAST  明暗差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EFC66-0823-4B9C-909C-0D7BD9E4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E12CF-039D-422C-84C4-72EF4648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2333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A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A24F2-565C-4D59-B1B2-41F27C87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767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6B273-EED4-4026-9639-149C7542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48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SATURATION  彩度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C5595-96BE-48DA-8BAF-40B49446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58CC6-5836-41BF-80FF-42CB5DC7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70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A14BB-6F5D-4075-AFD4-A101CCE4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323B2-ABA7-4814-A5A4-5072333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388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数値は「写真が何を表すか」ではなく、</a:t>
            </a:r>
          </a:p>
          <a:p xmlns:a="http://schemas.openxmlformats.org/drawingml/2006/main">
            <a:pPr algn="l">
              <a:defRPr sz="14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画面上の視覚的特徴を測っている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CB30F-1C87-4B88-87C1-C2B66AE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写真: Mathious Ier / CC0 /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08832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F484B-AD39-4E58-8A8B-3A833A0B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THREE SOURCE 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7D74-461E-4D1C-8933-8193292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同じ写真から、模様の配列が異なる3案を作る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DB2C1-5015-4E15-9DAF-FACB895D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AFDA8-AEA2-4D74-BD25-802262F5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5594B-1032-4072-948D-2108C68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01  流転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45FA4-8D37-4C6D-BA32-D283044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467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9a36bf9734eda"/>
          <a:stretch xmlns:a="http://schemas.openxmlformats.org/drawingml/2006/main"/>
        </p:blipFill>
        <p:spPr>
          <a:xfrm xmlns:a="http://schemas.openxmlformats.org/drawingml/2006/main">
            <a:off x="685800" y="2416302"/>
            <a:ext cx="3124200" cy="118719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18660-F44E-4C5A-88CA-8D875F9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形 → 線 → 形 → 光 → 単色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A4FA5-DC70-4005-B4A1-29DB9B6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形と線を主役にする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98FDD-CDFE-4B66-97D8-C45D461E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02  景層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11954-91BB-4E88-88DD-8A62D365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467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f82ad2039494d"/>
          <a:stretch xmlns:a="http://schemas.openxmlformats.org/drawingml/2006/main"/>
        </p:blipFill>
        <p:spPr>
          <a:xfrm xmlns:a="http://schemas.openxmlformats.org/drawingml/2006/main">
            <a:off x="4533900" y="2416302"/>
            <a:ext cx="3124200" cy="118719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34A4C-D1EE-436B-A39A-CE358E8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線 → 透け → 形 → 粒子 → 単色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258FB-0137-4670-852E-D7396ACF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柄と静かな面を混ぜる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1BFBA-4EAC-41B7-976C-46AFB280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03  残光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6E7FD-BA29-4FA7-8EDC-792E7E8E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3467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274bf146c43d0"/>
          <a:stretch xmlns:a="http://schemas.openxmlformats.org/drawingml/2006/main"/>
        </p:blipFill>
        <p:spPr>
          <a:xfrm xmlns:a="http://schemas.openxmlformats.org/drawingml/2006/main">
            <a:off x="8382000" y="2416302"/>
            <a:ext cx="3124200" cy="118719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9FBDF-39D5-488F-AF8B-5A280514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形 → 細線 → 光 → パール → マット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EBF91-86D4-4682-88F6-14DB5BAF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質感差で光を強調する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C517D-FD63-4EBF-A247-4397E68F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「主役」や「余白」はコード上の名称ではなく、模様配列のデザイン上の解釈</a:t>
            </a:r>
          </a:p>
        </p:txBody>
      </p:sp>
    </p:spTree>
    <p:extLst>
      <p:ext uri="{BB962C8B-B14F-4D97-AF65-F5344CB8AC3E}">
        <p14:creationId xmlns:p14="http://schemas.microsoft.com/office/powerpoint/2010/main" val="224275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6CE1B-F8C2-4622-BAAD-F48C1CE4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SEEDED VARIATION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4C41-3D56-4340-B8EA-3D6FA20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同じ画像から、同じ3案を出せるようにする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B66D-C0EE-4589-B69E-AC70C4D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D4FB3-0736-43E0-974B-9EFDBD9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11304-6682-4E2E-AE9C-FD48CCC8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5197D-55C6-46B4-A7A5-07641F4D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19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画像の色を順番に読む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0906-1398-45CF-8A5D-2679E44B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各画素の色と透明度を、小さな数へまとめる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32196-4BE1-4BCC-863B-6BC2161B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A18C5-1B8D-4D0E-BCB5-3C26833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74999-76B3-4349-86EE-283448C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画像ごとの番号を作る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DB966-C87A-48CA-9CFD-56D69D0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908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画像全体から、一つの整数を計算する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53684-FFF5-4DA3-B300-0D0C3D60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4F9CC-9F0A-42BE-9633-20050B3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A0AE9-496C-4F6A-BF4F-CBB3299D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番号から小さな変化を作る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AF513-7F32-4BEA-BC8F-BF203708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0から1までの数を、決まった順番で取り出す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2D20B-8250-4AB1-BDCC-C0BBB56C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3FCFF-3FB1-4A6F-A667-C59A769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2A611-DE3C-4CF5-AF7A-C91E571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決めた範囲の中だけを変える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FE4B-0DA1-484F-A3CC-1917E3F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33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低彩度色と鮮やかな色の強め方を少し動かす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866DF-D3A0-4467-897B-BA3CC0E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61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51905-DF97-4919-BA63-EB4E6BE5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同じ画像 → 同じ番号 → 同じ変化　／　別の画像 → 別の番号 → 少し違う変化</a:t>
            </a:r>
          </a:p>
        </p:txBody>
      </p:sp>
    </p:spTree>
    <p:extLst>
      <p:ext uri="{BB962C8B-B14F-4D97-AF65-F5344CB8AC3E}">
        <p14:creationId xmlns:p14="http://schemas.microsoft.com/office/powerpoint/2010/main" val="1278677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D1673-DD24-42B8-ACF7-3AB1892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VARIATION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9DD30-2E4D-4FC0-AB04-705EC4CB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変える範囲を先に決め、色選びだけを少し動かす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FF252-0D97-42D7-9D52-BFA9448C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780D9-F809-4701-8BF2-28B84B2F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08BE5-B431-4FEA-B3B4-20D62BEA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D4313-0975-42A4-B35D-AF689515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0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低彩度色を残す量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89953-84F3-4B5F-9988-97FC4F8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鮮やかな色を強める量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D6170-50B2-47F6-8533-B21B3849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00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3DD27-CE60-40D6-81F1-B13C62BB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流転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AA8D6-2384-4D4F-A2FE-B601B619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0.25〜0.31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B4905-FD7E-4EBD-977F-CB78A268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2.75〜3.15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CE15-ED6B-4BA4-B1FD-AA117D62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形と線を強く見せる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DD812-1EBD-445B-AEE0-30FE09C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B9F46-197C-4BFC-9249-25EB57E2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62AAA5"/>
                </a:solidFill>
                <a:latin typeface="Hiragino Sans"/>
                <a:ea typeface="Hiragino Sans"/>
                <a:cs typeface="Hiragino Sans"/>
              </a:rPr>
              <a:t>景層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EA9F3-2185-4A0A-88BA-7FB4782F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0.30〜0.36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48634-861F-4448-B365-D5DFF352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2.20〜2.65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7647D-B73A-4677-A3C3-D2110F89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低彩度色も残して層を作る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482F0-45B1-4647-9676-F97E108D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C15D6-035F-4CB5-878B-528FA090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残光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CA441-69BB-47EC-AD54-6C2F3951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0.22〜0.28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ECB79-99AB-46AF-A60B-F6DEDC0D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3.05〜3.45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92BDB-2FBD-4635-B92A-7D94EE3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386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小さな鮮やかな色を拾う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352E7-7FBE-4AF9-90BC-2EFFD5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0295A-2C2D-4F56-8004-06556A38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変えないもの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BB631-0990-4023-89A4-06D0E19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851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5本の模様の順番　／　爪の形と長さ　／　線・形・光の描き方　／　手の追跡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22890C-5D40-4E07-B9AC-6F70BF43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165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数値は自由に動かさず、案ごとの上限と下限の中だけで変える</a:t>
            </a:r>
          </a:p>
        </p:txBody>
      </p:sp>
    </p:spTree>
    <p:extLst>
      <p:ext uri="{BB962C8B-B14F-4D97-AF65-F5344CB8AC3E}">
        <p14:creationId xmlns:p14="http://schemas.microsoft.com/office/powerpoint/2010/main" val="730167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6B772-63B0-4601-A86F-26691824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BALANCING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DEE4F-FF4F-4886-A1A4-59B75C58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バランスは、4つの制限を重ねて作る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D4725-0EA6-4B6D-A358-ECBFEE94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72850-992C-4A92-8744-4BD37D8C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BB132-4310-4643-B3E9-F5C7B84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B516E-76D7-45F7-8125-4AF8E36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色の重複を減らす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97B1D-91A6-4300-9D14-AB5ABCE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似すぎる色の同時採用を抑える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C7B47-F97A-4A6B-A403-1BDA4A64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4E712-F5E4-4614-B131-A83AB4F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24D52-2CF4-4A5A-B018-DA150DB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色順をずらす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261DF-0217-4F4A-985E-961A2B1C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288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上位色を連続させず 1・4・2・5・3 で並べる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C4E1E-2ED6-44D1-B8AF-333CD573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50063-A898-4FF6-8D09-AFE3B08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2FFB4-13D8-4C29-832F-89C311D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模様の強弱を混ぜる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2B062-9D5F-4B1D-B45B-7DDCC56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形・線・光の間に透け・単色・マットを置く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EEEA3-A6B8-4277-B3FB-C526E9FE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6E6A8-DF2D-4CFF-98B0-101E2113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3246F-C702-4A31-A255-4AD32771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576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数値の上限と下限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C663C-C1B9-44E7-A1A0-368CBF99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弱すぎるときも描き、多すぎるときは1で止める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24FE7-7C6A-4B10-BA93-7115BD8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80EA6-A291-4FF0-A57F-7473CDA6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58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FF439-D399-4282-BEB8-98FB10C8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プログラムは「美しい」を理解せず、まとまりやすい条件を実行する</a:t>
            </a:r>
          </a:p>
        </p:txBody>
      </p:sp>
    </p:spTree>
    <p:extLst>
      <p:ext uri="{BB962C8B-B14F-4D97-AF65-F5344CB8AC3E}">
        <p14:creationId xmlns:p14="http://schemas.microsoft.com/office/powerpoint/2010/main" val="292024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9881D-8620-489B-ABCA-4304C18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AUTHOR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606D5-7042-4CC5-B316-04DE59B3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最後の「良さ」は、ネイリストと制作者の目で判断する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3F1CB-432D-45EF-BEE8-13F5C577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DB33-01AA-4490-A19A-ADF5838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e988110e44e77"/>
          <a:stretch xmlns:a="http://schemas.openxmlformats.org/drawingml/2006/main"/>
        </p:blipFill>
        <p:spPr>
          <a:xfrm xmlns:a="http://schemas.openxmlformats.org/drawingml/2006/main">
            <a:off x="856247" y="1695450"/>
            <a:ext cx="4612105" cy="1752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070A8-A7D4-4518-BD50-CE40BA7A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プログラムができること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139D8-A931-4B54-B1FD-A6211D35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複数案を生成する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同じ条件を再現する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色・線・光の量を調整する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344F7-060C-49B8-9C23-640BBD9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E322F-087E-4052-AC5A-8D3F99A9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今福が見て決めること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34671-7763-41B4-BE77-E379A06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統一感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83E80-63A2-4B5A-97D8-05F6A88E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5本が一つのセットに見える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BF7FC-7DD6-46E0-B14D-C6E0A81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変化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5BDE7-50F9-4F2A-9D21-302BC3B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5本すべてが同じではない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DC36C-5B0C-4736-A7B6-D7BFF210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強弱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EB369-4E1E-4B08-90D6-F6984A6D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柄と静かな面の両方がある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1B8FE-0113-41B8-BB3C-4D56483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装着性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1C659-7F20-4813-BA2E-1459C4E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実際の手とスマホ画面で読み取れる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26769-B513-4DF6-8C4C-6A78315A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翻訳性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54906-7603-4C28-A9D8-5732AD5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76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元画像の特徴がコピーでなく残る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097AF-FB1C-461B-AD8C-693DEE9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29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作品性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D0285-3408-4565-954F-6658550A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292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通常のネイルと作品の間にある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AB1C5-5436-49BD-8F13-48A7BCB8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5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1500" b="1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良くない出力は採用せず、構成や見え方の修正を指示した</a:t>
            </a:r>
          </a:p>
        </p:txBody>
      </p:sp>
    </p:spTree>
    <p:extLst>
      <p:ext uri="{BB962C8B-B14F-4D97-AF65-F5344CB8AC3E}">
        <p14:creationId xmlns:p14="http://schemas.microsoft.com/office/powerpoint/2010/main" val="2327251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9AD1D-5F96-4C5C-A4E1-6B0BA74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AUTHORSHIP /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D76F6-6D56-4577-A7EC-B30E3886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作者性は「全部を手作業したか」ではなく、判断と責任にある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97BB2-F177-4039-8609-C628D13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3CBE-12FD-4B13-BD50-161BDB1A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635E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807C1-6575-45DB-AC4A-5F9522BE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C74872"/>
                </a:solidFill>
                <a:latin typeface="Hiragino Sans"/>
                <a:ea typeface="Hiragino Sans"/>
                <a:cs typeface="Hiragino Sans"/>
              </a:rPr>
              <a:t>今福恵美子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4159C-4542-42C5-A4B4-4A449E84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写真からネイルを作る発想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色・線・光へ分解する方針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5本を同じ柄にしない方針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出力の比較、採用、却下、修正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作品全体の体験と美的方向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7AA7B-C57D-45D9-A5A8-54FEAE6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B58A32"/>
                </a:solidFill>
                <a:latin typeface="Hiragino Sans"/>
                <a:ea typeface="Hiragino Sans"/>
                <a:cs typeface="Hiragino Sans"/>
              </a:rPr>
              <a:t>生成AIによる実装支援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F0C7B-E2DB-4FAD-97FE-19896DD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色抽出式のコード化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特徴量の数値化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Canvasによる線・形・光の描画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バグ修正とスマートフォン向け実装</a:t>
            </a:r>
          </a:p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• 説明と記録の整理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2B8F1-E43B-4932-858B-5C7788E1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8"/>
          </a:solidFill>
          <a:ln xmlns:a="http://schemas.openxmlformats.org/drawingml/2006/main" w="0">
            <a:solidFill>
              <a:srgbClr val="C8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60DD9-CBEB-4123-9CD2-370AD21D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515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13B7A-8BA4-4BDE-92A5-DA7DF55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79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25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写真から特徴を採集し、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25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制作者の判断で「装着できる作品」へ編集する</a:t>
            </a:r>
          </a:p>
        </p:txBody>
      </p:sp>
    </p:spTree>
    <p:extLst>
      <p:ext uri="{BB962C8B-B14F-4D97-AF65-F5344CB8AC3E}">
        <p14:creationId xmlns:p14="http://schemas.microsoft.com/office/powerpoint/2010/main" val="1816021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2026-09-01T17:08:17.5200000Z</dcterms:created>
  <dcterms:modified xsi:type="dcterms:W3CDTF">2026-09-01T17:08:17.5200000Z</dcterms:modified>
</coreProperties>
</file>